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media/image13.jpeg" ContentType="image/jpeg"/>
  <Override PartName="/ppt/media/image9.png" ContentType="image/png"/>
  <Override PartName="/ppt/media/image8.png" ContentType="image/png"/>
  <Override PartName="/ppt/media/image14.jpeg" ContentType="image/jpeg"/>
  <Override PartName="/ppt/media/image7.png" ContentType="image/png"/>
  <Override PartName="/ppt/media/image22.jpeg" ContentType="image/jpeg"/>
  <Override PartName="/ppt/media/image12.jpeg" ContentType="image/jpeg"/>
  <Override PartName="/ppt/media/image11.png" ContentType="image/png"/>
  <Override PartName="/ppt/media/image6.png" ContentType="image/png"/>
  <Override PartName="/ppt/media/image10.png" ContentType="image/png"/>
  <Override PartName="/ppt/media/image20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3.jpeg" ContentType="image/jpeg"/>
  <Override PartName="/ppt/media/image18.jpeg" ContentType="image/jpeg"/>
  <Override PartName="/ppt/media/image2.jpeg" ContentType="image/jpeg"/>
  <Override PartName="/ppt/media/image23.jpeg" ContentType="image/jpeg"/>
  <Override PartName="/ppt/media/image17.jpeg" ContentType="image/jpeg"/>
  <Override PartName="/ppt/media/image16.jpeg" ContentType="image/jpeg"/>
  <Override PartName="/ppt/media/image15.jpeg" ContentType="image/jpeg"/>
  <Override PartName="/ppt/media/image4.jpeg" ContentType="image/jpeg"/>
  <Override PartName="/ppt/media/image5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</a:t>
            </a:r>
            <a:r>
              <a:rPr b="0" lang="en-US" sz="2000" spc="-1" strike="noStrike">
                <a:latin typeface="Arial"/>
              </a:rPr>
              <a:t>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7B70004-B1A9-46B6-AB04-842329B10E23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E5385BC-013E-4B0E-B771-9E784AE9F42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F59677-F563-4058-8068-1C1F79C0FF8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F9A4DD-EF50-463F-A104-A9225169223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1FEB0E5-26E2-4C3E-9678-DCD13476DD7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39F6AF3-9083-40E8-B52A-467A92404DC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EAB58C-94BD-48F3-8CE1-67D523D81CC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F25DA0-7BF6-459F-906C-3A2B05F09EC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6438A54-179F-48BE-8BE4-4A1BDE8EFB3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17ADA7D-AE3A-4D62-B3CA-8262EED08FD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B34105D-6E10-4DB9-8C46-78814130A8D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8141B5C-A6FA-4C1F-9BAE-DC6B53DBC48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4214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5c24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jpeg"/><Relationship Id="rId3" Type="http://schemas.openxmlformats.org/officeDocument/2006/relationships/image" Target="../media/image14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3428640" cy="5143320"/>
          </a:xfrm>
          <a:prstGeom prst="rect">
            <a:avLst/>
          </a:prstGeom>
          <a:ln w="0">
            <a:noFill/>
          </a:ln>
        </p:spPr>
      </p:pic>
      <p:sp>
        <p:nvSpPr>
          <p:cNvPr id="48" name="Text 0"/>
          <p:cNvSpPr/>
          <p:nvPr/>
        </p:nvSpPr>
        <p:spPr>
          <a:xfrm>
            <a:off x="3897360" y="935280"/>
            <a:ext cx="47779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b393"/>
                </a:solidFill>
                <a:latin typeface="Brygada 1918 Bold"/>
                <a:ea typeface="Brygada 1918 Bold"/>
              </a:rPr>
              <a:t>PubliCast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3897360" y="1582200"/>
            <a:ext cx="4777920" cy="184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6000"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3850" spc="-1" strike="noStrike">
                <a:solidFill>
                  <a:srgbClr val="ffb393"/>
                </a:solidFill>
                <a:latin typeface="Brygada 1918 Bold"/>
                <a:ea typeface="Brygada 1918 Bold"/>
              </a:rPr>
              <a:t>Quản lý mạng xã hội — Từ phân mảnh đến tập trung</a:t>
            </a:r>
            <a:endParaRPr b="0" lang="en-US" sz="3850" spc="-1" strike="noStrike"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3897360" y="3629520"/>
            <a:ext cx="477792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3000"/>
              </a:lnSpc>
              <a:spcAft>
                <a:spcPts val="1151"/>
              </a:spcAft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Nền tảng SaaS quản lý mạng xã hội tập trung | </a:t>
            </a:r>
            <a:r>
              <a:rPr b="0" lang="en-US" sz="1050" spc="-1" strike="noStrike">
                <a:solidFill>
                  <a:srgbClr val="ffb393"/>
                </a:solidFill>
                <a:latin typeface="Montserrat Medium"/>
                <a:ea typeface="Montserrat Medium"/>
              </a:rPr>
              <a:t>Báo cáo thực tập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Nguyễn Thành Huy – Trịnh Quốc Công Vinh</a:t>
            </a:r>
            <a:endParaRPr b="0" lang="en-US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 0" descr="preencoded.png"/>
          <p:cNvPicPr/>
          <p:nvPr/>
        </p:nvPicPr>
        <p:blipFill>
          <a:blip r:embed="rId1"/>
          <a:stretch/>
        </p:blipFill>
        <p:spPr>
          <a:xfrm>
            <a:off x="5715000" y="0"/>
            <a:ext cx="3428640" cy="5143320"/>
          </a:xfrm>
          <a:prstGeom prst="rect">
            <a:avLst/>
          </a:prstGeom>
          <a:ln w="0">
            <a:noFill/>
          </a:ln>
        </p:spPr>
      </p:pic>
      <p:sp>
        <p:nvSpPr>
          <p:cNvPr id="52" name="Shape 0"/>
          <p:cNvSpPr/>
          <p:nvPr/>
        </p:nvSpPr>
        <p:spPr>
          <a:xfrm>
            <a:off x="468360" y="724320"/>
            <a:ext cx="587160" cy="203040"/>
          </a:xfrm>
          <a:prstGeom prst="roundRect">
            <a:avLst>
              <a:gd name="adj" fmla="val 7899"/>
            </a:avLst>
          </a:prstGeom>
          <a:solidFill>
            <a:srgbClr val="4d1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1"/>
          <p:cNvSpPr/>
          <p:nvPr/>
        </p:nvSpPr>
        <p:spPr>
          <a:xfrm>
            <a:off x="548640" y="764280"/>
            <a:ext cx="88416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6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VẤN ĐỀ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468360" y="981000"/>
            <a:ext cx="4777920" cy="89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8000"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b393"/>
                </a:solidFill>
                <a:latin typeface="Brygada 1918 Bold"/>
                <a:ea typeface="Brygada 1918 Bold"/>
              </a:rPr>
              <a:t>Nỗi Đau Của Doanh Nghiệp Khi Quản Lý Đa Nền Tảng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468360" y="2073600"/>
            <a:ext cx="2322000" cy="1212480"/>
          </a:xfrm>
          <a:prstGeom prst="roundRect">
            <a:avLst>
              <a:gd name="adj" fmla="val 1655"/>
            </a:avLst>
          </a:prstGeom>
          <a:solidFill>
            <a:srgbClr val="4d15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4"/>
          <p:cNvSpPr/>
          <p:nvPr/>
        </p:nvSpPr>
        <p:spPr>
          <a:xfrm>
            <a:off x="601920" y="2207520"/>
            <a:ext cx="205452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Phân mảnh công việc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601920" y="2510640"/>
            <a:ext cx="205452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Quản lý 8+ nền tảng riêng lẻ — tốn thời gian, dễ sai sót và bỏ lỡ cơ hội.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58" name="Shape 6"/>
          <p:cNvSpPr/>
          <p:nvPr/>
        </p:nvSpPr>
        <p:spPr>
          <a:xfrm>
            <a:off x="2924280" y="2073600"/>
            <a:ext cx="2322000" cy="1212480"/>
          </a:xfrm>
          <a:prstGeom prst="roundRect">
            <a:avLst>
              <a:gd name="adj" fmla="val 1655"/>
            </a:avLst>
          </a:prstGeom>
          <a:solidFill>
            <a:srgbClr val="4d15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7"/>
          <p:cNvSpPr/>
          <p:nvPr/>
        </p:nvSpPr>
        <p:spPr>
          <a:xfrm>
            <a:off x="3058200" y="2207520"/>
            <a:ext cx="205452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Khó đo lường hiệu quả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3058200" y="2510640"/>
            <a:ext cx="205452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Dữ liệu nằm rời rạc, không có báo cáo tổng hợp để ra quyết định chiến lược.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1" name="Shape 9"/>
          <p:cNvSpPr/>
          <p:nvPr/>
        </p:nvSpPr>
        <p:spPr>
          <a:xfrm>
            <a:off x="468360" y="3420360"/>
            <a:ext cx="4777920" cy="998640"/>
          </a:xfrm>
          <a:prstGeom prst="roundRect">
            <a:avLst>
              <a:gd name="adj" fmla="val 2010"/>
            </a:avLst>
          </a:prstGeom>
          <a:solidFill>
            <a:srgbClr val="4d15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0"/>
          <p:cNvSpPr/>
          <p:nvPr/>
        </p:nvSpPr>
        <p:spPr>
          <a:xfrm>
            <a:off x="601920" y="3554280"/>
            <a:ext cx="45104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Quy trình thiếu nhất quán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601920" y="3857400"/>
            <a:ext cx="451044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Thiếu workflow duyệt bài — rủi ro đăng nội dung chưa kiểm duyệt.</a:t>
            </a:r>
            <a:endParaRPr b="0" lang="en-US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468360" y="376200"/>
            <a:ext cx="562320" cy="155160"/>
          </a:xfrm>
          <a:prstGeom prst="roundRect">
            <a:avLst>
              <a:gd name="adj" fmla="val 7897"/>
            </a:avLst>
          </a:prstGeom>
          <a:solidFill>
            <a:srgbClr val="4d1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1"/>
          <p:cNvSpPr/>
          <p:nvPr/>
        </p:nvSpPr>
        <p:spPr>
          <a:xfrm>
            <a:off x="529920" y="406800"/>
            <a:ext cx="896400" cy="9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6000"/>
              </a:lnSpc>
              <a:buNone/>
              <a:tabLst>
                <a:tab algn="l" pos="0"/>
              </a:tabLst>
            </a:pPr>
            <a:r>
              <a:rPr b="0" lang="en-US" sz="6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GIẢI PHÁP</a:t>
            </a:r>
            <a:endParaRPr b="0" lang="en-US" sz="600" spc="-1" strike="noStrike"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468360" y="563040"/>
            <a:ext cx="820692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2150" spc="-1" strike="noStrike">
                <a:solidFill>
                  <a:srgbClr val="ffb393"/>
                </a:solidFill>
                <a:latin typeface="Brygada 1918 Bold"/>
                <a:ea typeface="Brygada 1918 Bold"/>
              </a:rPr>
              <a:t>PubliCast — Một Bảng Điều Khiển, Tám Nền Tảng</a:t>
            </a:r>
            <a:endParaRPr b="0" lang="en-US" sz="2150" spc="-1" strike="noStrike">
              <a:latin typeface="Arial"/>
            </a:endParaRPr>
          </a:p>
        </p:txBody>
      </p:sp>
      <p:pic>
        <p:nvPicPr>
          <p:cNvPr id="67" name="Image 0" descr="preencoded.png"/>
          <p:cNvPicPr/>
          <p:nvPr/>
        </p:nvPicPr>
        <p:blipFill>
          <a:blip r:embed="rId1"/>
          <a:stretch/>
        </p:blipFill>
        <p:spPr>
          <a:xfrm>
            <a:off x="468360" y="1110240"/>
            <a:ext cx="5247000" cy="2973240"/>
          </a:xfrm>
          <a:prstGeom prst="rect">
            <a:avLst/>
          </a:prstGeom>
          <a:ln w="0">
            <a:noFill/>
          </a:ln>
        </p:spPr>
      </p:pic>
      <p:sp>
        <p:nvSpPr>
          <p:cNvPr id="68" name="Text 3"/>
          <p:cNvSpPr/>
          <p:nvPr/>
        </p:nvSpPr>
        <p:spPr>
          <a:xfrm>
            <a:off x="5970240" y="2307600"/>
            <a:ext cx="2709720" cy="5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PubliCast là nền tảng SaaS giúp doanh nghiệp và người sáng tạo nội dung </a:t>
            </a:r>
            <a:r>
              <a:rPr b="1" lang="en-US" sz="800" spc="-1" strike="noStrike">
                <a:solidFill>
                  <a:srgbClr val="f4cab8"/>
                </a:solidFill>
                <a:latin typeface="Montserrat Bold"/>
                <a:ea typeface="Montserrat Bold"/>
              </a:rPr>
              <a:t>quản lý toàn bộ mạng xã hội từ một nơi duy nhất</a:t>
            </a:r>
            <a:r>
              <a:rPr b="0" lang="en-US" sz="8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 — tiết kiệm thời gian, tăng hiệu quả và kiểm soát hoàn toàn.</a:t>
            </a:r>
            <a:endParaRPr b="0" lang="en-US" sz="800" spc="-1" strike="noStrike">
              <a:latin typeface="Arial"/>
            </a:endParaRPr>
          </a:p>
        </p:txBody>
      </p:sp>
      <p:pic>
        <p:nvPicPr>
          <p:cNvPr id="69" name="Image 1" descr="preencoded.png"/>
          <p:cNvPicPr/>
          <p:nvPr/>
        </p:nvPicPr>
        <p:blipFill>
          <a:blip r:embed="rId2"/>
          <a:stretch/>
        </p:blipFill>
        <p:spPr>
          <a:xfrm>
            <a:off x="506520" y="4263120"/>
            <a:ext cx="153360" cy="153360"/>
          </a:xfrm>
          <a:prstGeom prst="rect">
            <a:avLst/>
          </a:prstGeom>
          <a:ln w="0">
            <a:noFill/>
          </a:ln>
        </p:spPr>
      </p:pic>
      <p:sp>
        <p:nvSpPr>
          <p:cNvPr id="70" name="Text 4"/>
          <p:cNvSpPr/>
          <p:nvPr/>
        </p:nvSpPr>
        <p:spPr>
          <a:xfrm>
            <a:off x="801000" y="4260240"/>
            <a:ext cx="23371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Kết nối 8+ nền tảng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801000" y="4478040"/>
            <a:ext cx="233712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Facebook, Instagram, TikTok, YouTube, LinkedIn, Telegram, Discord, Threads</a:t>
            </a:r>
            <a:endParaRPr b="0" lang="en-US" sz="800" spc="-1" strike="noStrike">
              <a:latin typeface="Arial"/>
            </a:endParaRPr>
          </a:p>
        </p:txBody>
      </p:sp>
      <p:pic>
        <p:nvPicPr>
          <p:cNvPr id="72" name="Image 2" descr="preencoded.png"/>
          <p:cNvPicPr/>
          <p:nvPr/>
        </p:nvPicPr>
        <p:blipFill>
          <a:blip r:embed="rId3"/>
          <a:stretch/>
        </p:blipFill>
        <p:spPr>
          <a:xfrm>
            <a:off x="3275280" y="4263120"/>
            <a:ext cx="153360" cy="153360"/>
          </a:xfrm>
          <a:prstGeom prst="rect">
            <a:avLst/>
          </a:prstGeom>
          <a:ln w="0">
            <a:noFill/>
          </a:ln>
        </p:spPr>
      </p:pic>
      <p:sp>
        <p:nvSpPr>
          <p:cNvPr id="73" name="Text 6"/>
          <p:cNvSpPr/>
          <p:nvPr/>
        </p:nvSpPr>
        <p:spPr>
          <a:xfrm>
            <a:off x="3569400" y="4260240"/>
            <a:ext cx="23371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Tự động hóa quy trình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3569400" y="4478040"/>
            <a:ext cx="233712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Lập lịch, duyệt bài và phân tích tự động</a:t>
            </a:r>
            <a:endParaRPr b="0" lang="en-US" sz="800" spc="-1" strike="noStrike">
              <a:latin typeface="Arial"/>
            </a:endParaRPr>
          </a:p>
        </p:txBody>
      </p:sp>
      <p:pic>
        <p:nvPicPr>
          <p:cNvPr id="75" name="Image 3" descr="preencoded.png"/>
          <p:cNvPicPr/>
          <p:nvPr/>
        </p:nvPicPr>
        <p:blipFill>
          <a:blip r:embed="rId4"/>
          <a:stretch/>
        </p:blipFill>
        <p:spPr>
          <a:xfrm>
            <a:off x="6043680" y="4263120"/>
            <a:ext cx="153360" cy="153360"/>
          </a:xfrm>
          <a:prstGeom prst="rect">
            <a:avLst/>
          </a:prstGeom>
          <a:ln w="0">
            <a:noFill/>
          </a:ln>
        </p:spPr>
      </p:pic>
      <p:sp>
        <p:nvSpPr>
          <p:cNvPr id="76" name="Text 8"/>
          <p:cNvSpPr/>
          <p:nvPr/>
        </p:nvSpPr>
        <p:spPr>
          <a:xfrm>
            <a:off x="6338160" y="4260240"/>
            <a:ext cx="23371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Hạ tầng AWS cloud-native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6338160" y="4478040"/>
            <a:ext cx="233712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Khả năng mở rộng và ổn định cao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468360" y="820080"/>
            <a:ext cx="1260360" cy="203040"/>
          </a:xfrm>
          <a:prstGeom prst="roundRect">
            <a:avLst>
              <a:gd name="adj" fmla="val 7899"/>
            </a:avLst>
          </a:prstGeom>
          <a:solidFill>
            <a:srgbClr val="4d1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1"/>
          <p:cNvSpPr/>
          <p:nvPr/>
        </p:nvSpPr>
        <p:spPr>
          <a:xfrm>
            <a:off x="548640" y="860400"/>
            <a:ext cx="15570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6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TÍNH NĂNG CỐT LÕI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468360" y="1076760"/>
            <a:ext cx="82069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b393"/>
                </a:solidFill>
                <a:latin typeface="Brygada 1918 Bold"/>
                <a:ea typeface="Brygada 1918 Bold"/>
              </a:rPr>
              <a:t>Những Gì PubliCast Cung Cấp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1" name="Image 0" descr="preencoded.png"/>
          <p:cNvPicPr/>
          <p:nvPr/>
        </p:nvPicPr>
        <p:blipFill>
          <a:blip r:embed="rId1"/>
          <a:stretch/>
        </p:blipFill>
        <p:spPr>
          <a:xfrm>
            <a:off x="468360" y="1723680"/>
            <a:ext cx="267120" cy="267120"/>
          </a:xfrm>
          <a:prstGeom prst="rect">
            <a:avLst/>
          </a:prstGeom>
          <a:ln w="0">
            <a:noFill/>
          </a:ln>
        </p:spPr>
      </p:pic>
      <p:sp>
        <p:nvSpPr>
          <p:cNvPr id="82" name="Text 3"/>
          <p:cNvSpPr/>
          <p:nvPr/>
        </p:nvSpPr>
        <p:spPr>
          <a:xfrm>
            <a:off x="468360" y="2158560"/>
            <a:ext cx="401976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Đăng Bài Đa Nền Tảng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468360" y="2461680"/>
            <a:ext cx="40197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Viết một lần, đăng đồng thời lên tất cả nền tảng với lịch trình linh hoạt.</a:t>
            </a:r>
            <a:endParaRPr b="0" lang="en-US" sz="1050" spc="-1" strike="noStrike">
              <a:latin typeface="Arial"/>
            </a:endParaRPr>
          </a:p>
        </p:txBody>
      </p:sp>
      <p:pic>
        <p:nvPicPr>
          <p:cNvPr id="84" name="Image 1" descr="preencoded.png"/>
          <p:cNvPicPr/>
          <p:nvPr/>
        </p:nvPicPr>
        <p:blipFill>
          <a:blip r:embed="rId2"/>
          <a:stretch/>
        </p:blipFill>
        <p:spPr>
          <a:xfrm>
            <a:off x="4655520" y="1723680"/>
            <a:ext cx="267120" cy="267120"/>
          </a:xfrm>
          <a:prstGeom prst="rect">
            <a:avLst/>
          </a:prstGeom>
          <a:ln w="0">
            <a:noFill/>
          </a:ln>
        </p:spPr>
      </p:pic>
      <p:sp>
        <p:nvSpPr>
          <p:cNvPr id="85" name="Text 5"/>
          <p:cNvSpPr/>
          <p:nvPr/>
        </p:nvSpPr>
        <p:spPr>
          <a:xfrm>
            <a:off x="4655520" y="2158560"/>
            <a:ext cx="401976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Phân Tích Dữ Liệu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4655520" y="2461680"/>
            <a:ext cx="40197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Báo cáo hiệu suất tổng hợp — lượt tiếp cận, tương tác, tăng trưởng theo thời gian thực.</a:t>
            </a:r>
            <a:endParaRPr b="0" lang="en-US" sz="1050" spc="-1" strike="noStrike">
              <a:latin typeface="Arial"/>
            </a:endParaRPr>
          </a:p>
        </p:txBody>
      </p:sp>
      <p:pic>
        <p:nvPicPr>
          <p:cNvPr id="87" name="Image 2" descr="preencoded.png"/>
          <p:cNvPicPr/>
          <p:nvPr/>
        </p:nvPicPr>
        <p:blipFill>
          <a:blip r:embed="rId3"/>
          <a:stretch/>
        </p:blipFill>
        <p:spPr>
          <a:xfrm>
            <a:off x="468360" y="3157200"/>
            <a:ext cx="267120" cy="267120"/>
          </a:xfrm>
          <a:prstGeom prst="rect">
            <a:avLst/>
          </a:prstGeom>
          <a:ln w="0">
            <a:noFill/>
          </a:ln>
        </p:spPr>
      </p:pic>
      <p:sp>
        <p:nvSpPr>
          <p:cNvPr id="88" name="Text 7"/>
          <p:cNvSpPr/>
          <p:nvPr/>
        </p:nvSpPr>
        <p:spPr>
          <a:xfrm>
            <a:off x="468360" y="3592080"/>
            <a:ext cx="401976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Quy Trình Duyệt Bài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468360" y="3895200"/>
            <a:ext cx="40197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Phân quyền và luồng phê duyệt nội bộ — đảm bảo chất lượng trước khi xuất bản.</a:t>
            </a:r>
            <a:endParaRPr b="0" lang="en-US" sz="1050" spc="-1" strike="noStrike">
              <a:latin typeface="Arial"/>
            </a:endParaRPr>
          </a:p>
        </p:txBody>
      </p:sp>
      <p:pic>
        <p:nvPicPr>
          <p:cNvPr id="90" name="Image 3" descr="preencoded.png"/>
          <p:cNvPicPr/>
          <p:nvPr/>
        </p:nvPicPr>
        <p:blipFill>
          <a:blip r:embed="rId4"/>
          <a:stretch/>
        </p:blipFill>
        <p:spPr>
          <a:xfrm>
            <a:off x="4655520" y="3157200"/>
            <a:ext cx="267120" cy="267120"/>
          </a:xfrm>
          <a:prstGeom prst="rect">
            <a:avLst/>
          </a:prstGeom>
          <a:ln w="0">
            <a:noFill/>
          </a:ln>
        </p:spPr>
      </p:pic>
      <p:sp>
        <p:nvSpPr>
          <p:cNvPr id="91" name="Text 9"/>
          <p:cNvSpPr/>
          <p:nvPr/>
        </p:nvSpPr>
        <p:spPr>
          <a:xfrm>
            <a:off x="4655520" y="3592080"/>
            <a:ext cx="401976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Inbox Tập Trung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4655520" y="3895200"/>
            <a:ext cx="40197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Tổng hợp tất cả bình luận và tin nhắn từ nhiều nền tảng vào một hộp thư duy nhất.</a:t>
            </a:r>
            <a:endParaRPr b="0" lang="en-US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468360" y="1093320"/>
            <a:ext cx="1585440" cy="203040"/>
          </a:xfrm>
          <a:prstGeom prst="roundRect">
            <a:avLst>
              <a:gd name="adj" fmla="val 7899"/>
            </a:avLst>
          </a:prstGeom>
          <a:solidFill>
            <a:srgbClr val="4d1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1"/>
          <p:cNvSpPr/>
          <p:nvPr/>
        </p:nvSpPr>
        <p:spPr>
          <a:xfrm>
            <a:off x="548640" y="1133640"/>
            <a:ext cx="188208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6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ĐỐI TƯỢNG NGƯỜI DÙNG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468360" y="1350360"/>
            <a:ext cx="82069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b393"/>
                </a:solidFill>
                <a:latin typeface="Brygada 1918 Bold"/>
                <a:ea typeface="Brygada 1918 Bold"/>
              </a:rPr>
              <a:t>PubliCast Dành Cho Ai?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96" name="Image 0" descr="preencoded.png"/>
          <p:cNvPicPr/>
          <p:nvPr/>
        </p:nvPicPr>
        <p:blipFill>
          <a:blip r:embed="rId1"/>
          <a:stretch/>
        </p:blipFill>
        <p:spPr>
          <a:xfrm>
            <a:off x="468360" y="1996920"/>
            <a:ext cx="1521720" cy="940320"/>
          </a:xfrm>
          <a:prstGeom prst="rect">
            <a:avLst/>
          </a:prstGeom>
          <a:ln w="0">
            <a:noFill/>
          </a:ln>
        </p:spPr>
      </p:pic>
      <p:sp>
        <p:nvSpPr>
          <p:cNvPr id="97" name="Text 3"/>
          <p:cNvSpPr/>
          <p:nvPr/>
        </p:nvSpPr>
        <p:spPr>
          <a:xfrm>
            <a:off x="468360" y="3104640"/>
            <a:ext cx="2624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Doanh Nghiệp SMEs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468360" y="3408120"/>
            <a:ext cx="262404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Quản lý thương hiệu hiệu quả với nguồn lực hạn chế — không cần team marketing lớn.</a:t>
            </a:r>
            <a:endParaRPr b="0" lang="en-US" sz="1050" spc="-1" strike="noStrike">
              <a:latin typeface="Arial"/>
            </a:endParaRPr>
          </a:p>
        </p:txBody>
      </p:sp>
      <p:pic>
        <p:nvPicPr>
          <p:cNvPr id="99" name="Image 1" descr="preencoded.png"/>
          <p:cNvPicPr/>
          <p:nvPr/>
        </p:nvPicPr>
        <p:blipFill>
          <a:blip r:embed="rId2"/>
          <a:stretch/>
        </p:blipFill>
        <p:spPr>
          <a:xfrm>
            <a:off x="3259800" y="1996920"/>
            <a:ext cx="1521720" cy="940320"/>
          </a:xfrm>
          <a:prstGeom prst="rect">
            <a:avLst/>
          </a:prstGeom>
          <a:ln w="0">
            <a:noFill/>
          </a:ln>
        </p:spPr>
      </p:pic>
      <p:sp>
        <p:nvSpPr>
          <p:cNvPr id="100" name="Text 5"/>
          <p:cNvSpPr/>
          <p:nvPr/>
        </p:nvSpPr>
        <p:spPr>
          <a:xfrm>
            <a:off x="3259800" y="3104640"/>
            <a:ext cx="2624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Marketing Agency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3259800" y="3408120"/>
            <a:ext cx="262404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Phục vụ nhiều khách hàng cùng lúc từ một dashboard — quản lý tài khoản và báo cáo tập trung.</a:t>
            </a:r>
            <a:endParaRPr b="0" lang="en-US" sz="1050" spc="-1" strike="noStrike">
              <a:latin typeface="Arial"/>
            </a:endParaRPr>
          </a:p>
        </p:txBody>
      </p:sp>
      <p:pic>
        <p:nvPicPr>
          <p:cNvPr id="102" name="Image 2" descr="preencoded.png"/>
          <p:cNvPicPr/>
          <p:nvPr/>
        </p:nvPicPr>
        <p:blipFill>
          <a:blip r:embed="rId3"/>
          <a:stretch/>
        </p:blipFill>
        <p:spPr>
          <a:xfrm>
            <a:off x="6051240" y="1996920"/>
            <a:ext cx="1521720" cy="940320"/>
          </a:xfrm>
          <a:prstGeom prst="rect">
            <a:avLst/>
          </a:prstGeom>
          <a:ln w="0">
            <a:noFill/>
          </a:ln>
        </p:spPr>
      </p:pic>
      <p:sp>
        <p:nvSpPr>
          <p:cNvPr id="103" name="Text 7"/>
          <p:cNvSpPr/>
          <p:nvPr/>
        </p:nvSpPr>
        <p:spPr>
          <a:xfrm>
            <a:off x="6051240" y="3104640"/>
            <a:ext cx="26240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Content Creators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6051240" y="3408120"/>
            <a:ext cx="262404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Tối ưu hóa sự hiện diện trên nhiều nền tảng — xây dựng thương hiệu cá nhân nhất quán.</a:t>
            </a:r>
            <a:endParaRPr b="0" lang="en-US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468360" y="389520"/>
            <a:ext cx="971640" cy="133200"/>
          </a:xfrm>
          <a:prstGeom prst="roundRect">
            <a:avLst>
              <a:gd name="adj" fmla="val 7898"/>
            </a:avLst>
          </a:prstGeom>
          <a:solidFill>
            <a:srgbClr val="4d1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1"/>
          <p:cNvSpPr/>
          <p:nvPr/>
        </p:nvSpPr>
        <p:spPr>
          <a:xfrm>
            <a:off x="520920" y="415800"/>
            <a:ext cx="1323720" cy="8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6000"/>
              </a:lnSpc>
              <a:buNone/>
              <a:tabLst>
                <a:tab algn="l" pos="0"/>
              </a:tabLst>
            </a:pPr>
            <a:r>
              <a:rPr b="0" lang="en-US" sz="5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SYSTEM ARCHITECTURE</a:t>
            </a:r>
            <a:endParaRPr b="0" lang="en-US" sz="550" spc="-1" strike="noStrike">
              <a:latin typeface="Arial"/>
            </a:endParaRPr>
          </a:p>
        </p:txBody>
      </p:sp>
      <p:sp>
        <p:nvSpPr>
          <p:cNvPr id="107" name="Text 2"/>
          <p:cNvSpPr/>
          <p:nvPr/>
        </p:nvSpPr>
        <p:spPr>
          <a:xfrm>
            <a:off x="468360" y="545760"/>
            <a:ext cx="820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b393"/>
                </a:solidFill>
                <a:latin typeface="Brygada 1918 Bold"/>
                <a:ea typeface="Brygada 1918 Bold"/>
              </a:rPr>
              <a:t>AWS Architecture Overview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08" name="Image 0" descr="preencoded.png"/>
          <p:cNvPicPr/>
          <p:nvPr/>
        </p:nvPicPr>
        <p:blipFill>
          <a:blip r:embed="rId1"/>
          <a:stretch/>
        </p:blipFill>
        <p:spPr>
          <a:xfrm>
            <a:off x="468360" y="924840"/>
            <a:ext cx="5370120" cy="382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468360" y="367920"/>
            <a:ext cx="628200" cy="101160"/>
          </a:xfrm>
          <a:prstGeom prst="roundRect">
            <a:avLst>
              <a:gd name="adj" fmla="val 7910"/>
            </a:avLst>
          </a:prstGeom>
          <a:solidFill>
            <a:srgbClr val="4d1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1"/>
          <p:cNvSpPr/>
          <p:nvPr/>
        </p:nvSpPr>
        <p:spPr>
          <a:xfrm>
            <a:off x="508320" y="388080"/>
            <a:ext cx="1005120" cy="6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6000"/>
              </a:lnSpc>
              <a:buNone/>
              <a:tabLst>
                <a:tab algn="l" pos="0"/>
              </a:tabLst>
            </a:pPr>
            <a:r>
              <a:rPr b="0" lang="en-US" sz="4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HẠ TẦNG &amp; DEVOPS</a:t>
            </a:r>
            <a:endParaRPr b="0" lang="en-US" sz="400" spc="-1" strike="noStrike"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468360" y="482760"/>
            <a:ext cx="820692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b393"/>
                </a:solidFill>
                <a:latin typeface="Brygada 1918 Bold"/>
                <a:ea typeface="Brygada 1918 Bold"/>
              </a:rPr>
              <a:t>Triển Khai Hoàn Toàn Trên AWS Với Terraform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468360" y="2494800"/>
            <a:ext cx="4021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Toàn bộ hạ tầng được định nghĩa bằng </a:t>
            </a:r>
            <a:r>
              <a:rPr b="1" lang="en-US" sz="500" spc="-1" strike="noStrike">
                <a:solidFill>
                  <a:srgbClr val="f4cab8"/>
                </a:solidFill>
                <a:latin typeface="Montserrat Bold"/>
                <a:ea typeface="Montserrat Bold"/>
              </a:rPr>
              <a:t>Terraform (IaC)</a:t>
            </a:r>
            <a:r>
              <a:rPr b="0" lang="en-US" sz="5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 — tái tạo môi trường chỉ với một lệnh, đảm bảo tính nhất quán và khả năng mở rộng.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468360" y="2685240"/>
            <a:ext cx="40219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01520" indent="-101520">
              <a:lnSpc>
                <a:spcPct val="100000"/>
              </a:lnSpc>
              <a:buClr>
                <a:srgbClr val="f4cab8"/>
              </a:buClr>
              <a:buFont typeface="Symbol" charset="2"/>
              <a:buChar char=""/>
            </a:pPr>
            <a:r>
              <a:rPr b="1" lang="en-US" sz="500" spc="-1" strike="noStrike">
                <a:solidFill>
                  <a:srgbClr val="f4cab8"/>
                </a:solidFill>
                <a:latin typeface="Montserrat Bold"/>
                <a:ea typeface="Montserrat Bold"/>
              </a:rPr>
              <a:t>ECS Fargate</a:t>
            </a:r>
            <a:r>
              <a:rPr b="0" lang="en-US" sz="5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 — Container serverless, tự động scaling</a:t>
            </a:r>
            <a:endParaRPr b="0" lang="en-US" sz="500" spc="-1" strike="noStrike">
              <a:latin typeface="Arial"/>
            </a:endParaRPr>
          </a:p>
          <a:p>
            <a:pPr marL="101520" indent="-101520">
              <a:lnSpc>
                <a:spcPct val="100000"/>
              </a:lnSpc>
              <a:buClr>
                <a:srgbClr val="f4cab8"/>
              </a:buClr>
              <a:buFont typeface="Symbol" charset="2"/>
              <a:buChar char=""/>
            </a:pPr>
            <a:r>
              <a:rPr b="1" lang="en-US" sz="500" spc="-1" strike="noStrike">
                <a:solidFill>
                  <a:srgbClr val="f4cab8"/>
                </a:solidFill>
                <a:latin typeface="Montserrat Bold"/>
                <a:ea typeface="Montserrat Bold"/>
              </a:rPr>
              <a:t>RDS PostgreSQL</a:t>
            </a:r>
            <a:r>
              <a:rPr b="0" lang="en-US" sz="5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 — Cơ sở dữ liệu quan hệ quản lý</a:t>
            </a:r>
            <a:endParaRPr b="0" lang="en-US" sz="500" spc="-1" strike="noStrike">
              <a:latin typeface="Arial"/>
            </a:endParaRPr>
          </a:p>
          <a:p>
            <a:pPr marL="101520" indent="-101520">
              <a:lnSpc>
                <a:spcPct val="100000"/>
              </a:lnSpc>
              <a:buClr>
                <a:srgbClr val="f4cab8"/>
              </a:buClr>
              <a:buFont typeface="Symbol" charset="2"/>
              <a:buChar char=""/>
            </a:pPr>
            <a:r>
              <a:rPr b="1" lang="en-US" sz="500" spc="-1" strike="noStrike">
                <a:solidFill>
                  <a:srgbClr val="f4cab8"/>
                </a:solidFill>
                <a:latin typeface="Montserrat Bold"/>
                <a:ea typeface="Montserrat Bold"/>
              </a:rPr>
              <a:t>ElastiCache Redis</a:t>
            </a:r>
            <a:r>
              <a:rPr b="0" lang="en-US" sz="5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 — Cache và hàng đợi hiệu năng cao</a:t>
            </a:r>
            <a:endParaRPr b="0" lang="en-US" sz="500" spc="-1" strike="noStrike">
              <a:latin typeface="Arial"/>
            </a:endParaRPr>
          </a:p>
          <a:p>
            <a:pPr marL="101520" indent="-101520">
              <a:lnSpc>
                <a:spcPct val="100000"/>
              </a:lnSpc>
              <a:buClr>
                <a:srgbClr val="f4cab8"/>
              </a:buClr>
              <a:buFont typeface="Symbol" charset="2"/>
              <a:buChar char=""/>
            </a:pPr>
            <a:r>
              <a:rPr b="1" lang="en-US" sz="500" spc="-1" strike="noStrike">
                <a:solidFill>
                  <a:srgbClr val="f4cab8"/>
                </a:solidFill>
                <a:latin typeface="Montserrat Bold"/>
                <a:ea typeface="Montserrat Bold"/>
              </a:rPr>
              <a:t>S3 + CloudFront</a:t>
            </a:r>
            <a:r>
              <a:rPr b="0" lang="en-US" sz="5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 — Lưu trữ và phân phối CDN toàn cầu</a:t>
            </a:r>
            <a:endParaRPr b="0" lang="en-US" sz="500" spc="-1" strike="noStrike">
              <a:latin typeface="Arial"/>
            </a:endParaRPr>
          </a:p>
          <a:p>
            <a:pPr marL="101520" indent="-101520">
              <a:lnSpc>
                <a:spcPct val="100000"/>
              </a:lnSpc>
              <a:buClr>
                <a:srgbClr val="f4cab8"/>
              </a:buClr>
              <a:buFont typeface="Symbol" charset="2"/>
              <a:buChar char=""/>
            </a:pPr>
            <a:r>
              <a:rPr b="1" lang="en-US" sz="500" spc="-1" strike="noStrike">
                <a:solidFill>
                  <a:srgbClr val="f4cab8"/>
                </a:solidFill>
                <a:latin typeface="Montserrat Bold"/>
                <a:ea typeface="Montserrat Bold"/>
              </a:rPr>
              <a:t>CI/CD Pipeline</a:t>
            </a:r>
            <a:r>
              <a:rPr b="0" lang="en-US" sz="5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 — Deploy tự động qua Docker</a:t>
            </a:r>
            <a:endParaRPr b="0" lang="en-US" sz="500" spc="-1" strike="noStrike">
              <a:latin typeface="Arial"/>
            </a:endParaRPr>
          </a:p>
        </p:txBody>
      </p:sp>
      <p:pic>
        <p:nvPicPr>
          <p:cNvPr id="114" name="Image 0" descr="preencoded.png"/>
          <p:cNvPicPr/>
          <p:nvPr/>
        </p:nvPicPr>
        <p:blipFill>
          <a:blip r:embed="rId1"/>
          <a:stretch/>
        </p:blipFill>
        <p:spPr>
          <a:xfrm>
            <a:off x="4658400" y="793440"/>
            <a:ext cx="4021920" cy="402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468360" y="369000"/>
            <a:ext cx="943560" cy="151920"/>
          </a:xfrm>
          <a:prstGeom prst="roundRect">
            <a:avLst>
              <a:gd name="adj" fmla="val 7902"/>
            </a:avLst>
          </a:prstGeom>
          <a:solidFill>
            <a:srgbClr val="4d1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"/>
          <p:cNvSpPr/>
          <p:nvPr/>
        </p:nvSpPr>
        <p:spPr>
          <a:xfrm>
            <a:off x="528480" y="399240"/>
            <a:ext cx="1280160" cy="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6000"/>
              </a:lnSpc>
              <a:buNone/>
              <a:tabLst>
                <a:tab algn="l" pos="0"/>
              </a:tabLst>
            </a:pPr>
            <a:r>
              <a:rPr b="0" lang="en-US" sz="6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HẠ TẦNG &amp; DEVOPS</a:t>
            </a:r>
            <a:endParaRPr b="0" lang="en-US" sz="600" spc="-1" strike="noStrike"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468360" y="551520"/>
            <a:ext cx="8206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b393"/>
                </a:solidFill>
                <a:latin typeface="Brygada 1918 Bold"/>
                <a:ea typeface="Brygada 1918 Bold"/>
              </a:rPr>
              <a:t>Kiến Trúc CI/CD Pipeline</a:t>
            </a:r>
            <a:endParaRPr b="0" lang="en-US" sz="2100" spc="-1" strike="noStrike">
              <a:latin typeface="Arial"/>
            </a:endParaRPr>
          </a:p>
        </p:txBody>
      </p:sp>
      <p:pic>
        <p:nvPicPr>
          <p:cNvPr id="118" name="Image 0" descr="preencoded.png"/>
          <p:cNvPicPr/>
          <p:nvPr/>
        </p:nvPicPr>
        <p:blipFill>
          <a:blip r:embed="rId1"/>
          <a:stretch/>
        </p:blipFill>
        <p:spPr>
          <a:xfrm>
            <a:off x="468360" y="999000"/>
            <a:ext cx="8206920" cy="377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3428640" cy="5143320"/>
          </a:xfrm>
          <a:prstGeom prst="rect">
            <a:avLst/>
          </a:prstGeom>
          <a:ln w="0">
            <a:noFill/>
          </a:ln>
        </p:spPr>
      </p:pic>
      <p:sp>
        <p:nvSpPr>
          <p:cNvPr id="120" name="Shape 0"/>
          <p:cNvSpPr/>
          <p:nvPr/>
        </p:nvSpPr>
        <p:spPr>
          <a:xfrm>
            <a:off x="3897360" y="407160"/>
            <a:ext cx="1368000" cy="190080"/>
          </a:xfrm>
          <a:prstGeom prst="roundRect">
            <a:avLst>
              <a:gd name="adj" fmla="val 7899"/>
            </a:avLst>
          </a:prstGeom>
          <a:solidFill>
            <a:srgbClr val="4d1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1"/>
          <p:cNvSpPr/>
          <p:nvPr/>
        </p:nvSpPr>
        <p:spPr>
          <a:xfrm>
            <a:off x="3972600" y="444600"/>
            <a:ext cx="167472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6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THÁCH THỨC KỸ THUẬT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3897360" y="644760"/>
            <a:ext cx="477792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b393"/>
                </a:solidFill>
                <a:latin typeface="Brygada 1918 Bold"/>
                <a:ea typeface="Brygada 1918 Bold"/>
              </a:rPr>
              <a:t>Giải Quyết Các Vấn Đề Kỹ Thuật Phức Tạp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123" name="Image 1" descr="preencoded.png"/>
          <p:cNvPicPr/>
          <p:nvPr/>
        </p:nvPicPr>
        <p:blipFill>
          <a:blip r:embed="rId2"/>
          <a:stretch/>
        </p:blipFill>
        <p:spPr>
          <a:xfrm>
            <a:off x="3897360" y="1657440"/>
            <a:ext cx="4777920" cy="947520"/>
          </a:xfrm>
          <a:prstGeom prst="rect">
            <a:avLst/>
          </a:prstGeom>
          <a:ln w="0">
            <a:noFill/>
          </a:ln>
        </p:spPr>
      </p:pic>
      <p:sp>
        <p:nvSpPr>
          <p:cNvPr id="124" name="Text 3"/>
          <p:cNvSpPr/>
          <p:nvPr/>
        </p:nvSpPr>
        <p:spPr>
          <a:xfrm>
            <a:off x="4094280" y="1797120"/>
            <a:ext cx="444168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OAuth 2.0 Đa Nền Tảng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5" name="Text 4"/>
          <p:cNvSpPr/>
          <p:nvPr/>
        </p:nvSpPr>
        <p:spPr>
          <a:xfrm>
            <a:off x="4094280" y="2076840"/>
            <a:ext cx="444168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9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Mỗi nền tảng có luồng xác thực riêng. Giải pháp: lớp </a:t>
            </a:r>
            <a:r>
              <a:rPr b="1" lang="en-US" sz="950" spc="-1" strike="noStrike">
                <a:solidFill>
                  <a:srgbClr val="f4cab8"/>
                </a:solidFill>
                <a:latin typeface="Montserrat Bold"/>
                <a:ea typeface="Montserrat Bold"/>
              </a:rPr>
              <a:t>Auth Abstraction</a:t>
            </a:r>
            <a:r>
              <a:rPr b="0" lang="en-US" sz="9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 thống nhất, quản lý token và refresh tự động.</a:t>
            </a:r>
            <a:endParaRPr b="0" lang="en-US" sz="950" spc="-1" strike="noStrike">
              <a:latin typeface="Arial"/>
            </a:endParaRPr>
          </a:p>
        </p:txBody>
      </p:sp>
      <p:pic>
        <p:nvPicPr>
          <p:cNvPr id="126" name="Image 2" descr="preencoded.png"/>
          <p:cNvPicPr/>
          <p:nvPr/>
        </p:nvPicPr>
        <p:blipFill>
          <a:blip r:embed="rId3"/>
          <a:stretch/>
        </p:blipFill>
        <p:spPr>
          <a:xfrm>
            <a:off x="3897360" y="2723040"/>
            <a:ext cx="4777920" cy="947520"/>
          </a:xfrm>
          <a:prstGeom prst="rect">
            <a:avLst/>
          </a:prstGeom>
          <a:ln w="0">
            <a:noFill/>
          </a:ln>
        </p:spPr>
      </p:pic>
      <p:sp>
        <p:nvSpPr>
          <p:cNvPr id="127" name="Text 5"/>
          <p:cNvSpPr/>
          <p:nvPr/>
        </p:nvSpPr>
        <p:spPr>
          <a:xfrm>
            <a:off x="4094280" y="2862720"/>
            <a:ext cx="444168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Upload Video Dung Lượng Lớn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4094280" y="3142440"/>
            <a:ext cx="444168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9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Xử lý bất đồng bộ qua </a:t>
            </a:r>
            <a:r>
              <a:rPr b="1" lang="en-US" sz="950" spc="-1" strike="noStrike">
                <a:solidFill>
                  <a:srgbClr val="f4cab8"/>
                </a:solidFill>
                <a:latin typeface="Montserrat Bold"/>
                <a:ea typeface="Montserrat Bold"/>
              </a:rPr>
              <a:t>BullMQ</a:t>
            </a:r>
            <a:r>
              <a:rPr b="0" lang="en-US" sz="9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 — chia nhỏ tiến trình, lưu tạm S3, báo tiến độ real-time qua Socket.io.</a:t>
            </a:r>
            <a:endParaRPr b="0" lang="en-US" sz="950" spc="-1" strike="noStrike">
              <a:latin typeface="Arial"/>
            </a:endParaRPr>
          </a:p>
        </p:txBody>
      </p:sp>
      <p:pic>
        <p:nvPicPr>
          <p:cNvPr id="129" name="Image 3" descr="preencoded.png"/>
          <p:cNvPicPr/>
          <p:nvPr/>
        </p:nvPicPr>
        <p:blipFill>
          <a:blip r:embed="rId4"/>
          <a:stretch/>
        </p:blipFill>
        <p:spPr>
          <a:xfrm>
            <a:off x="3897360" y="3788280"/>
            <a:ext cx="4777920" cy="947520"/>
          </a:xfrm>
          <a:prstGeom prst="rect">
            <a:avLst/>
          </a:prstGeom>
          <a:ln w="0">
            <a:noFill/>
          </a:ln>
        </p:spPr>
      </p:pic>
      <p:sp>
        <p:nvSpPr>
          <p:cNvPr id="130" name="Text 7"/>
          <p:cNvSpPr/>
          <p:nvPr/>
        </p:nvSpPr>
        <p:spPr>
          <a:xfrm>
            <a:off x="4094280" y="3927960"/>
            <a:ext cx="444168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Rate Limiting &amp; API Quota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4094280" y="4207680"/>
            <a:ext cx="444168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9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Giới hạn API chặt chẽ từ Meta, YouTube, TikTok. Giải pháp: </a:t>
            </a:r>
            <a:r>
              <a:rPr b="1" lang="en-US" sz="950" spc="-1" strike="noStrike">
                <a:solidFill>
                  <a:srgbClr val="f4cab8"/>
                </a:solidFill>
                <a:latin typeface="Montserrat Bold"/>
                <a:ea typeface="Montserrat Bold"/>
              </a:rPr>
              <a:t>throttling thông minh</a:t>
            </a:r>
            <a:r>
              <a:rPr b="0" lang="en-US" sz="95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 và retry logic với backoff.</a:t>
            </a:r>
            <a:endParaRPr b="0" lang="en-US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468360" y="367920"/>
            <a:ext cx="255600" cy="101160"/>
          </a:xfrm>
          <a:prstGeom prst="roundRect">
            <a:avLst>
              <a:gd name="adj" fmla="val 7910"/>
            </a:avLst>
          </a:prstGeom>
          <a:solidFill>
            <a:srgbClr val="4d1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1"/>
          <p:cNvSpPr/>
          <p:nvPr/>
        </p:nvSpPr>
        <p:spPr>
          <a:xfrm>
            <a:off x="508320" y="388080"/>
            <a:ext cx="632520" cy="6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6000"/>
              </a:lnSpc>
              <a:buNone/>
              <a:tabLst>
                <a:tab algn="l" pos="0"/>
              </a:tabLst>
            </a:pPr>
            <a:r>
              <a:rPr b="0" lang="en-US" sz="4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DEMO</a:t>
            </a:r>
            <a:endParaRPr b="0" lang="en-US" sz="400" spc="-1" strike="noStrike"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468360" y="482760"/>
            <a:ext cx="820692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b393"/>
                </a:solidFill>
                <a:latin typeface="Brygada 1918 Bold"/>
                <a:ea typeface="Brygada 1918 Bold"/>
              </a:rPr>
              <a:t>PubliCast Trong Hành Động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135" name="Image 0" descr="preencoded.png"/>
          <p:cNvPicPr/>
          <p:nvPr/>
        </p:nvPicPr>
        <p:blipFill>
          <a:blip r:embed="rId1"/>
          <a:stretch/>
        </p:blipFill>
        <p:spPr>
          <a:xfrm>
            <a:off x="557640" y="756000"/>
            <a:ext cx="8028360" cy="4549320"/>
          </a:xfrm>
          <a:prstGeom prst="rect">
            <a:avLst/>
          </a:prstGeom>
          <a:ln w="0">
            <a:noFill/>
          </a:ln>
        </p:spPr>
      </p:pic>
      <p:sp>
        <p:nvSpPr>
          <p:cNvPr id="136" name="Text 3"/>
          <p:cNvSpPr/>
          <p:nvPr/>
        </p:nvSpPr>
        <p:spPr>
          <a:xfrm>
            <a:off x="468360" y="5343120"/>
            <a:ext cx="133560" cy="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00" spc="-1" strike="noStrike">
                <a:solidFill>
                  <a:srgbClr val="f4cab8"/>
                </a:solidFill>
                <a:latin typeface="Brygada 1918"/>
                <a:ea typeface="Brygada 1918"/>
              </a:rPr>
              <a:t>01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468360" y="5447160"/>
            <a:ext cx="2713320" cy="9000"/>
          </a:xfrm>
          <a:prstGeom prst="rect">
            <a:avLst/>
          </a:prstGeom>
          <a:solidFill>
            <a:srgbClr val="ffb3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5"/>
          <p:cNvSpPr/>
          <p:nvPr/>
        </p:nvSpPr>
        <p:spPr>
          <a:xfrm>
            <a:off x="468360" y="5499720"/>
            <a:ext cx="2713320" cy="11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7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Kết nối &amp; xác thực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468360" y="5631120"/>
            <a:ext cx="2713320" cy="7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Liên kết 8+ tài khoản mạng xã hội qua OAuth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3215160" y="5343120"/>
            <a:ext cx="133560" cy="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00" spc="-1" strike="noStrike">
                <a:solidFill>
                  <a:srgbClr val="f4cab8"/>
                </a:solidFill>
                <a:latin typeface="Brygada 1918"/>
                <a:ea typeface="Brygada 1918"/>
              </a:rPr>
              <a:t>02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41" name="Shape 8"/>
          <p:cNvSpPr/>
          <p:nvPr/>
        </p:nvSpPr>
        <p:spPr>
          <a:xfrm>
            <a:off x="3215160" y="5447160"/>
            <a:ext cx="2713320" cy="9000"/>
          </a:xfrm>
          <a:prstGeom prst="rect">
            <a:avLst/>
          </a:prstGeom>
          <a:solidFill>
            <a:srgbClr val="ffb3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9"/>
          <p:cNvSpPr/>
          <p:nvPr/>
        </p:nvSpPr>
        <p:spPr>
          <a:xfrm>
            <a:off x="3215160" y="5499720"/>
            <a:ext cx="2713320" cy="11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7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Soạn thảo &amp; lập lịch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3215160" y="5631120"/>
            <a:ext cx="2713320" cy="7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Tạo nội dung đa nền tảng với lịch trình linh hoạt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44" name="Text 11"/>
          <p:cNvSpPr/>
          <p:nvPr/>
        </p:nvSpPr>
        <p:spPr>
          <a:xfrm>
            <a:off x="5961960" y="5343120"/>
            <a:ext cx="133560" cy="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00" spc="-1" strike="noStrike">
                <a:solidFill>
                  <a:srgbClr val="f4cab8"/>
                </a:solidFill>
                <a:latin typeface="Brygada 1918"/>
                <a:ea typeface="Brygada 1918"/>
              </a:rPr>
              <a:t>03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45" name="Shape 12"/>
          <p:cNvSpPr/>
          <p:nvPr/>
        </p:nvSpPr>
        <p:spPr>
          <a:xfrm>
            <a:off x="5961960" y="5447160"/>
            <a:ext cx="2713320" cy="9000"/>
          </a:xfrm>
          <a:prstGeom prst="rect">
            <a:avLst/>
          </a:prstGeom>
          <a:solidFill>
            <a:srgbClr val="ffb3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3"/>
          <p:cNvSpPr/>
          <p:nvPr/>
        </p:nvSpPr>
        <p:spPr>
          <a:xfrm>
            <a:off x="5961960" y="5499720"/>
            <a:ext cx="2713320" cy="11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7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Phân tích &amp; tối ưu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5961960" y="5631120"/>
            <a:ext cx="2713320" cy="7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Theo dõi hiệu suất và điều chỉnh chiến lược</a:t>
            </a:r>
            <a:endParaRPr b="0" lang="en-US" sz="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Image 0" descr="preencoded.png"/>
          <p:cNvPicPr/>
          <p:nvPr/>
        </p:nvPicPr>
        <p:blipFill>
          <a:blip r:embed="rId1"/>
          <a:stretch/>
        </p:blipFill>
        <p:spPr>
          <a:xfrm>
            <a:off x="5715000" y="0"/>
            <a:ext cx="3428640" cy="5143320"/>
          </a:xfrm>
          <a:prstGeom prst="rect">
            <a:avLst/>
          </a:prstGeom>
          <a:ln w="0">
            <a:noFill/>
          </a:ln>
        </p:spPr>
      </p:pic>
      <p:sp>
        <p:nvSpPr>
          <p:cNvPr id="149" name="Shape 0"/>
          <p:cNvSpPr/>
          <p:nvPr/>
        </p:nvSpPr>
        <p:spPr>
          <a:xfrm>
            <a:off x="468360" y="465480"/>
            <a:ext cx="746280" cy="196560"/>
          </a:xfrm>
          <a:prstGeom prst="roundRect">
            <a:avLst>
              <a:gd name="adj" fmla="val 7897"/>
            </a:avLst>
          </a:prstGeom>
          <a:solidFill>
            <a:srgbClr val="4d1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1"/>
          <p:cNvSpPr/>
          <p:nvPr/>
        </p:nvSpPr>
        <p:spPr>
          <a:xfrm>
            <a:off x="546120" y="504000"/>
            <a:ext cx="10479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6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TƯƠNG LAI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468360" y="712440"/>
            <a:ext cx="477792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ffb393"/>
                </a:solidFill>
                <a:latin typeface="Brygada 1918 Bold"/>
                <a:ea typeface="Brygada 1918 Bold"/>
              </a:rPr>
              <a:t>Lộ Trình Phát Triển Tiếp Theo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614160" y="1765080"/>
            <a:ext cx="14040" cy="2912760"/>
          </a:xfrm>
          <a:prstGeom prst="roundRect">
            <a:avLst>
              <a:gd name="adj" fmla="val 49998"/>
            </a:avLst>
          </a:prstGeom>
          <a:solidFill>
            <a:srgbClr val="66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Shape 4"/>
          <p:cNvSpPr/>
          <p:nvPr/>
        </p:nvSpPr>
        <p:spPr>
          <a:xfrm>
            <a:off x="745560" y="1903680"/>
            <a:ext cx="388440" cy="14040"/>
          </a:xfrm>
          <a:prstGeom prst="roundRect">
            <a:avLst>
              <a:gd name="adj" fmla="val 49998"/>
            </a:avLst>
          </a:prstGeom>
          <a:solidFill>
            <a:srgbClr val="66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Shape 5"/>
          <p:cNvSpPr/>
          <p:nvPr/>
        </p:nvSpPr>
        <p:spPr>
          <a:xfrm>
            <a:off x="468360" y="1765080"/>
            <a:ext cx="291240" cy="291240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6"/>
          <p:cNvSpPr/>
          <p:nvPr/>
        </p:nvSpPr>
        <p:spPr>
          <a:xfrm>
            <a:off x="510480" y="1781280"/>
            <a:ext cx="2070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1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1262160" y="1809360"/>
            <a:ext cx="398412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Giai đoạn 1 — Hiện tại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1262160" y="2100960"/>
            <a:ext cx="39841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1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8 nền tảng, đăng bài, Analytics, Workflow, Inbox tập trung.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8" name="Shape 9"/>
          <p:cNvSpPr/>
          <p:nvPr/>
        </p:nvSpPr>
        <p:spPr>
          <a:xfrm>
            <a:off x="745560" y="2694600"/>
            <a:ext cx="388440" cy="14040"/>
          </a:xfrm>
          <a:prstGeom prst="roundRect">
            <a:avLst>
              <a:gd name="adj" fmla="val 49998"/>
            </a:avLst>
          </a:prstGeom>
          <a:solidFill>
            <a:srgbClr val="66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Shape 10"/>
          <p:cNvSpPr/>
          <p:nvPr/>
        </p:nvSpPr>
        <p:spPr>
          <a:xfrm>
            <a:off x="468360" y="2556000"/>
            <a:ext cx="291240" cy="291240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11"/>
          <p:cNvSpPr/>
          <p:nvPr/>
        </p:nvSpPr>
        <p:spPr>
          <a:xfrm>
            <a:off x="510480" y="2572200"/>
            <a:ext cx="2070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2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1262160" y="2600640"/>
            <a:ext cx="398412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Giai đoạn 2 — AI Content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1262160" y="2891880"/>
            <a:ext cx="39841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1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Tích hợp AI tạo caption, hashtag và đề xuất lịch đăng tối ưu.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3" name="Shape 14"/>
          <p:cNvSpPr/>
          <p:nvPr/>
        </p:nvSpPr>
        <p:spPr>
          <a:xfrm>
            <a:off x="745560" y="3485880"/>
            <a:ext cx="388440" cy="14040"/>
          </a:xfrm>
          <a:prstGeom prst="roundRect">
            <a:avLst>
              <a:gd name="adj" fmla="val 49998"/>
            </a:avLst>
          </a:prstGeom>
          <a:solidFill>
            <a:srgbClr val="66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Shape 15"/>
          <p:cNvSpPr/>
          <p:nvPr/>
        </p:nvSpPr>
        <p:spPr>
          <a:xfrm>
            <a:off x="468360" y="3347280"/>
            <a:ext cx="291240" cy="291240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16"/>
          <p:cNvSpPr/>
          <p:nvPr/>
        </p:nvSpPr>
        <p:spPr>
          <a:xfrm>
            <a:off x="510480" y="3363120"/>
            <a:ext cx="2070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3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6" name="Text 17"/>
          <p:cNvSpPr/>
          <p:nvPr/>
        </p:nvSpPr>
        <p:spPr>
          <a:xfrm>
            <a:off x="1262160" y="3391560"/>
            <a:ext cx="398412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Giai đoạn 3 — Microservices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67" name="Text 18"/>
          <p:cNvSpPr/>
          <p:nvPr/>
        </p:nvSpPr>
        <p:spPr>
          <a:xfrm>
            <a:off x="1262160" y="3682800"/>
            <a:ext cx="39841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1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Tách service theo domain: Auth, Post, Analytics, Notification.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8" name="Shape 19"/>
          <p:cNvSpPr/>
          <p:nvPr/>
        </p:nvSpPr>
        <p:spPr>
          <a:xfrm>
            <a:off x="745560" y="4276800"/>
            <a:ext cx="388440" cy="14040"/>
          </a:xfrm>
          <a:prstGeom prst="roundRect">
            <a:avLst>
              <a:gd name="adj" fmla="val 49998"/>
            </a:avLst>
          </a:prstGeom>
          <a:solidFill>
            <a:srgbClr val="66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Shape 20"/>
          <p:cNvSpPr/>
          <p:nvPr/>
        </p:nvSpPr>
        <p:spPr>
          <a:xfrm>
            <a:off x="468360" y="4138200"/>
            <a:ext cx="291240" cy="291240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21"/>
          <p:cNvSpPr/>
          <p:nvPr/>
        </p:nvSpPr>
        <p:spPr>
          <a:xfrm>
            <a:off x="510480" y="4154400"/>
            <a:ext cx="2070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4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1" name="Text 22"/>
          <p:cNvSpPr/>
          <p:nvPr/>
        </p:nvSpPr>
        <p:spPr>
          <a:xfrm>
            <a:off x="1262160" y="4182840"/>
            <a:ext cx="398412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4cab8"/>
                </a:solidFill>
                <a:latin typeface="Brygada 1918 Bold"/>
                <a:ea typeface="Brygada 1918 Bold"/>
              </a:rPr>
              <a:t>Giai đoạn 4 — Mở rộng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72" name="Text 23"/>
          <p:cNvSpPr/>
          <p:nvPr/>
        </p:nvSpPr>
        <p:spPr>
          <a:xfrm>
            <a:off x="1262160" y="4474080"/>
            <a:ext cx="398412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1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4cab8"/>
                </a:solidFill>
                <a:latin typeface="Montserrat Medium"/>
                <a:ea typeface="Montserrat Medium"/>
              </a:rPr>
              <a:t>Thêm Pinterest, Snapchat, X (Twitter); hỗ trợ đa ngôn ngữ.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2026-08-07T16:14:32Z</dcterms:created>
  <dc:creator/>
  <dc:description/>
  <dc:language>en-US</dc:language>
  <cp:lastModifiedBy/>
  <dcterms:modified xsi:type="dcterms:W3CDTF">2026-08-07T23:33:52Z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